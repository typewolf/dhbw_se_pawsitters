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10287000" cx="18288000"/>
  <p:notesSz cx="10287000" cy="18288000"/>
  <p:embeddedFontLs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7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6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47750" y="952500"/>
            <a:ext cx="804334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DHBW HEILBRONN · SOFTWARE ENGINEERING · SOSE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47750" y="2908935"/>
            <a:ext cx="1667827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0"/>
              <a:buFont typeface="Helvetica Neue"/>
              <a:buNone/>
            </a:pPr>
            <a:r>
              <a:rPr b="0" i="0" lang="en-US" sz="180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Pawsitters</a:t>
            </a:r>
            <a:r>
              <a:rPr b="0" i="0" lang="en-US" sz="180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5194935"/>
            <a:ext cx="10791825" cy="154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Eine Marktplatz-Plattform für Haustierbetreuung — Konzept, Architektur und methodische Umsetzung in Spring Boot.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47750" y="8382476"/>
            <a:ext cx="16192500" cy="9525"/>
          </a:xfrm>
          <a:prstGeom prst="rect">
            <a:avLst/>
          </a:prstGeom>
          <a:solidFill>
            <a:srgbClr val="F5F3EE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47750" y="8658701"/>
            <a:ext cx="6247485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VORTRAGENDE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47750" y="9012714"/>
            <a:ext cx="6247485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100"/>
              <a:buFont typeface="Helvetica Neue"/>
              <a:buNone/>
            </a:pPr>
            <a:r>
              <a:rPr lang="en-US" sz="21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Luis Z.</a:t>
            </a:r>
            <a:r>
              <a:rPr b="0" i="0" lang="en-US" sz="21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</a:t>
            </a:r>
            <a:r>
              <a:rPr lang="en-US" sz="21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Marios Z.</a:t>
            </a:r>
            <a:r>
              <a:rPr b="0" i="0" lang="en-US" sz="21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</a:t>
            </a:r>
            <a:r>
              <a:rPr lang="en-US" sz="21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Willi B.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456170" y="8658701"/>
            <a:ext cx="3123743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DAUER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456170" y="9012714"/>
            <a:ext cx="3123743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 + 10 Min.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831830" y="8658701"/>
            <a:ext cx="3123743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0831830" y="9012714"/>
            <a:ext cx="3123743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100"/>
              <a:buFont typeface="Helvetica Neue"/>
              <a:buNone/>
            </a:pPr>
            <a:r>
              <a:rPr lang="en-US" sz="21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github.com/TypeWolf/dhbw_se_pawsitters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4207490" y="8658701"/>
            <a:ext cx="3123743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4207490" y="9012714"/>
            <a:ext cx="3123743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100"/>
              <a:buFont typeface="Helvetica Neue"/>
              <a:buNone/>
            </a:pPr>
            <a:r>
              <a:rPr lang="en-US" sz="21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</a:t>
            </a:r>
            <a:r>
              <a:rPr b="0" i="0" lang="en-US" sz="21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Mai 2026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724025" y="942975"/>
            <a:ext cx="1275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lang="en-US" sz="4800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94385" y="2630805"/>
            <a:ext cx="8044815" cy="5554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Vision und Problemstellung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Stakeholder und Nutzergruppen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Anforderungen — funktional &amp; nicht-funktional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Team-Organisation und Methodik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Domänenmodell und Klassendiagramm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Architektur — Layered MVC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Cases und Runtime-Verhalten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REST-Schnittstellen und Persistenz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UnitOfWork-Pattern und Wallet-Logik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Security-Konzept und „Shift Left“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Teststrategie und CI / Container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KI-Einsatz, Lessons Learned, Q&amp;A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47750" y="9666287"/>
            <a:ext cx="563823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PAWSITTERS — PROJEKTPRÄSENTATION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047750" y="952500"/>
            <a:ext cx="821055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TEIL 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6336169" y="952500"/>
            <a:ext cx="98028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 / 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2095500" y="3124994"/>
            <a:ext cx="14519910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TEIL EINS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095500" y="3751580"/>
            <a:ext cx="1451991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Kontext, Stakeholder und Anforderungen.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2095500" y="6189980"/>
            <a:ext cx="10791825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Was Pawsitters lösen soll, für wen — und welche Qualitätsmerkmale wir uns dafür gesetzt haben.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724025" y="942975"/>
            <a:ext cx="10764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 und Gastgeber treffen sich auf einem strukturierten, vertrauensvollen Marktplatz.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047750" y="3575685"/>
            <a:ext cx="7946708" cy="14497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Wer in den Urlaub fährt, sucht keine App — sondern jemanden, der das Tier so versorgt, wie man es selbst täte.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047750" y="5215890"/>
            <a:ext cx="7946708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Pawsitters bildet diesen Vermittlungs- und Bezahlprozess als digitalen Marktplatz ab: Profil, Anfrage, Angebot, Buchung, Abrechnung — in einer geschlossenen Plattform.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525000" y="3575685"/>
            <a:ext cx="7715250" cy="29360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9877425" y="3928110"/>
            <a:ext cx="722071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9877425" y="4339272"/>
            <a:ext cx="722071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Vermittlung ohne Vertrauen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9877425" y="5027771"/>
            <a:ext cx="7220712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Whatsapp-Ketten und Aushänge skalieren nicht — Zahlung, Verfügbarkeit und Reputation bleiben ungeregelt.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9525000" y="6740366"/>
            <a:ext cx="7715250" cy="255889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9877425" y="7092791"/>
            <a:ext cx="722071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LÖSUNG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877425" y="7503954"/>
            <a:ext cx="722071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Plattform mit Escrow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877425" y="8192452"/>
            <a:ext cx="7220712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Profile, Matching, abgesicherte Bezahlung über ein internes Wallet, klare Statuswechsel.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047750" y="9666287"/>
            <a:ext cx="4185429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VISION &amp; PROBLEMSTELLUNG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724025" y="942975"/>
            <a:ext cx="21842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STAKEHOLDER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Drei primäre Rollen, ein gemeinsamer Datenraum.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047750" y="2707005"/>
            <a:ext cx="5041900" cy="426894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1400175" y="3059430"/>
            <a:ext cx="4467161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PRIMÄR · ANBIETER DER NACHFRAGE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400175" y="3748405"/>
            <a:ext cx="4467161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400175" y="4436904"/>
            <a:ext cx="4467161" cy="154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Pflegt Tierprofile, stellt Betreuungsanfragen für einen Zeitraum, prüft Angebote und vergibt den Auftrag.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400175" y="6193314"/>
            <a:ext cx="918845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571625" y="6269514"/>
            <a:ext cx="652145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471420" y="6193314"/>
            <a:ext cx="1203166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2642870" y="6269514"/>
            <a:ext cx="936466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826986" y="6193314"/>
            <a:ext cx="1233329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998436" y="6269514"/>
            <a:ext cx="966629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Zahlung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623050" y="2707005"/>
            <a:ext cx="5041900" cy="485155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975475" y="3059430"/>
            <a:ext cx="4467162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PRIMÄR · ANBIETER DES ANGEBOTS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975475" y="3748405"/>
            <a:ext cx="446716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Gastgeber / Sitter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975475" y="4436904"/>
            <a:ext cx="4467162" cy="154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Definiert Tierarten und Verfügbarkeit, gibt Angebote auf offene Anfragen ab und erhält die Auszahlung nach Abschluss.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975475" y="6193314"/>
            <a:ext cx="1813401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7146925" y="6269514"/>
            <a:ext cx="154670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Verfügbarkeit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941276" y="6193314"/>
            <a:ext cx="1275556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9112726" y="6269514"/>
            <a:ext cx="1008856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975475" y="6775926"/>
            <a:ext cx="1620520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146925" y="6852126"/>
            <a:ext cx="135382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Auszahlung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198350" y="2707005"/>
            <a:ext cx="5041900" cy="3613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2550775" y="3059430"/>
            <a:ext cx="446716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SEKUNDÄR · PLATTFORMBETRIEB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2550775" y="3470593"/>
            <a:ext cx="4467161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Administrator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2550775" y="4159091"/>
            <a:ext cx="4467161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Moderiert Nutzer und Rollen, überwacht Wallet-Bewegungen und greift bei Streitfällen ein.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2550775" y="5538311"/>
            <a:ext cx="1603851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2722225" y="5614511"/>
            <a:ext cx="133715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4307027" y="5538311"/>
            <a:ext cx="922655" cy="430213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4478477" y="5614511"/>
            <a:ext cx="655955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47750" y="8091964"/>
            <a:ext cx="16192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047750" y="8409463"/>
            <a:ext cx="1209834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INDIREKT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47750" y="8760301"/>
            <a:ext cx="802682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Dozentin als Reviewer · Zahlungs­dienstleister (Zukunft) · Datenschutzaufsicht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47750" y="9666287"/>
            <a:ext cx="489458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STAKEHOLDER &amp; NUTZERGRUPPEN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724025" y="942975"/>
            <a:ext cx="50872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ANFORDERUNGEN — FUNKTIONAL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Vom Profil bis zur Auszahlung — die zwölf Kern-Fähigkeiten.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047750" y="3695065"/>
            <a:ext cx="485775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047750" y="3347085"/>
            <a:ext cx="4774883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905500" y="3695065"/>
            <a:ext cx="485775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905500" y="3347085"/>
            <a:ext cx="4774883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FUNKTION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0763250" y="3695065"/>
            <a:ext cx="356235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0763250" y="3347085"/>
            <a:ext cx="3440621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4325600" y="3695065"/>
            <a:ext cx="291465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4325600" y="3347085"/>
            <a:ext cx="277349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PRIORITÄT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047750" y="4295458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047750" y="3785553"/>
            <a:ext cx="4774883" cy="471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905500" y="4295458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905500" y="3785553"/>
            <a:ext cx="4774883" cy="471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Registrierung &amp; Login mit Rollenwahl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0763250" y="4295458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10763250" y="3785553"/>
            <a:ext cx="3440621" cy="471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4325600" y="4295458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4325600" y="3792696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4497050" y="3868896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047750" y="4888706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047750" y="4381183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905500" y="4888706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5905500" y="4381183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Profilpflege inkl. Verfügbarkeit und Preis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0763250" y="4888706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0763250" y="4381183"/>
            <a:ext cx="3440621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 · Sitter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4325600" y="4888706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4325600" y="4385945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14497050" y="4462145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047750" y="5481955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047750" y="4974431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905500" y="5481955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905500" y="4974431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Haustier registrieren (Typ, Rasse, Alter)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0763250" y="5481955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0763250" y="4974431"/>
            <a:ext cx="3440621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4325600" y="5481955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4325600" y="4979194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4497050" y="5055394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47750" y="6075204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047750" y="5567680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905500" y="6075204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905500" y="5567680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Betreuungsanfrage für Zeitraum erstellen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0763250" y="6075204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0763250" y="5567680"/>
            <a:ext cx="3440621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4325600" y="6075204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4325600" y="5572442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4497050" y="5648642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47750" y="6668452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1047750" y="6160929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905500" y="6668452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905500" y="6160929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Passende offene Anfragen durchsuchen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763250" y="6668452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0763250" y="6160929"/>
            <a:ext cx="3440621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4325600" y="6668452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4325600" y="6165691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4497050" y="6241891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047750" y="7261701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047750" y="6754177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905500" y="7261701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905500" y="6754177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Angebot annehmen / weitere ablehnen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763250" y="7261701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0763250" y="6754177"/>
            <a:ext cx="3440621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4325600" y="7261701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4325600" y="6758940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4497050" y="6835140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47750" y="8028463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047750" y="7347426"/>
            <a:ext cx="4774883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905500" y="8028463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905500" y="7347426"/>
            <a:ext cx="4774883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Status­wechsel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Courier New"/>
                <a:ea typeface="Courier New"/>
                <a:cs typeface="Courier New"/>
                <a:sym typeface="Courier New"/>
              </a:rPr>
              <a:t>PENDING → ACCEPTED → COMPLETED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0763250" y="8028463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0763250" y="7347426"/>
            <a:ext cx="3440621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4325600" y="8028463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4325600" y="7352188"/>
            <a:ext cx="934561" cy="431324"/>
          </a:xfrm>
          <a:prstGeom prst="roundRect">
            <a:avLst>
              <a:gd fmla="val 50000" name="adj"/>
            </a:avLst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4497050" y="7428388"/>
            <a:ext cx="667861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047750" y="8621712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047750" y="8114188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905500" y="8621712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905500" y="8114188"/>
            <a:ext cx="4774883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 mit Escrow (Hold / Release)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0763250" y="8621712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0763250" y="8114188"/>
            <a:ext cx="3440621" cy="4694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4325600" y="8621712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4325600" y="8118951"/>
            <a:ext cx="760730" cy="431324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4497050" y="8195151"/>
            <a:ext cx="494030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47750" y="9387840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047750" y="8707438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F-09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905500" y="9387840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905500" y="8707438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Admin-Dashboard für Nutzer- &amp; Transaktionsmoderation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763250" y="9387840"/>
            <a:ext cx="35623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10763250" y="8707438"/>
            <a:ext cx="3440621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4325600" y="9387840"/>
            <a:ext cx="2914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4325600" y="8712200"/>
            <a:ext cx="760730" cy="431324"/>
          </a:xfrm>
          <a:prstGeom prst="roundRect">
            <a:avLst>
              <a:gd fmla="val 50000" name="adj"/>
            </a:avLst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4497050" y="8788400"/>
            <a:ext cx="494030" cy="3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047750" y="9666287"/>
            <a:ext cx="4787646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ANFORDERUNGEN — FUNKTIONAL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724025" y="942975"/>
            <a:ext cx="61176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ANFORDERUNGEN — NICHT-FUNKTIONAL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Qualitätsmerkmale, die wir messbar gemacht haben.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47750" y="2707005"/>
            <a:ext cx="5168900" cy="331327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400175" y="3059430"/>
            <a:ext cx="459797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Q-01 · SICHERHEIT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400175" y="3470593"/>
            <a:ext cx="459797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Vertraulichkeit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400175" y="4159091"/>
            <a:ext cx="4597972" cy="154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Passwörter ausschließlich als BCrypt-Hash; keine sensiblen Daten in Logs; Rollenprüfung serverseitig.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559550" y="2707005"/>
            <a:ext cx="5168900" cy="29360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911975" y="3059430"/>
            <a:ext cx="459797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Q-02 · INTEGRITÄT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911975" y="3470593"/>
            <a:ext cx="4597971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Finanzielle Korrektheit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911975" y="4159091"/>
            <a:ext cx="4597971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Jede Wallet-Buchung ist atomar (UnitOfWork) und im Payment-Journal nachvollziehbar.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2071350" y="2707005"/>
            <a:ext cx="5168900" cy="29360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2423775" y="3059430"/>
            <a:ext cx="459797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Q-03 · WARTBARKEIT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2423775" y="3470593"/>
            <a:ext cx="459797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Lesbarkeit &amp; Tests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2423775" y="4159091"/>
            <a:ext cx="4597972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Schichten­trennung, einheitliche Fehler­struktur, &gt; 35 Unit Tests, E2E auf den kritischen Pfaden.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657650" y="6375226"/>
            <a:ext cx="5169000" cy="293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010075" y="6727651"/>
            <a:ext cx="4598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Q-04 · PERFORMANCE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010075" y="7138814"/>
            <a:ext cx="4598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UI-Reaktion &lt; 200 ms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010075" y="7827313"/>
            <a:ext cx="4598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H2 In-Memory genügt im Prototyp; alle REST-Calls antworten lokal unter 200 ms im Lasttest.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415675" y="6375226"/>
            <a:ext cx="5169000" cy="293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829150" y="6562976"/>
            <a:ext cx="4598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Q-06 · USABILITY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829150" y="6974139"/>
            <a:ext cx="4598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Zugängliche UI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9829150" y="7662638"/>
            <a:ext cx="4598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Vanilla HTML / CSS, semantische Struktur, Sprachumschalter DE / EN, klare Statusrückmeldungen.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047750" y="9666287"/>
            <a:ext cx="575335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ANFORDERUNGEN — NICHT-FUNKTIONAL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724025" y="942975"/>
            <a:ext cx="28156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&amp; METHODIK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Drei Personen, ein Repository, ein Kanban-Board.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047750" y="2630805"/>
            <a:ext cx="5168900" cy="28575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047750" y="2926080"/>
            <a:ext cx="5323967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· DOMAIN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047750" y="3280093"/>
            <a:ext cx="5323967" cy="48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lang="en-US" sz="2850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87730" y="3900170"/>
            <a:ext cx="5405120" cy="1615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Domänenmodell &amp; JPA-Entitäten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UnitOfWork-Pattern &amp; Repositories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Wallet- und Escrow-Logik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Unit-Tests Service-Schicht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559550" y="2630805"/>
            <a:ext cx="5168900" cy="28575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559550" y="2926080"/>
            <a:ext cx="5323967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· SECURITY</a:t>
            </a:r>
            <a:r>
              <a:rPr lang="en-US" sz="1800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API &amp; Architektur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559550" y="3280093"/>
            <a:ext cx="5323967" cy="48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lang="en-US" sz="2850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Luis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399530" y="3900170"/>
            <a:ext cx="5405120" cy="1615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Spring Security</a:t>
            </a:r>
            <a:r>
              <a:rPr lang="en-US" sz="1800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REST-Controller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 CI-Pipeline,</a:t>
            </a:r>
            <a:endParaRPr b="0" i="0" sz="1800" u="none" cap="none" strike="noStrike">
              <a:solidFill>
                <a:srgbClr val="2A2F4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UnitOfWork-Pattern, Playwright E2E-Suite,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Testdokumentation,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Security-Konzept &amp; </a:t>
            </a:r>
            <a:r>
              <a:rPr lang="en-US" sz="1800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Architektur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2071350" y="2630805"/>
            <a:ext cx="5168900" cy="28575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2071350" y="2926080"/>
            <a:ext cx="5323967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 · UX &amp; QA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2071350" y="3280093"/>
            <a:ext cx="5323967" cy="4867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850"/>
              <a:buFont typeface="Helvetica Neue"/>
              <a:buNone/>
            </a:pPr>
            <a:r>
              <a:rPr lang="en-US" sz="2850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Marios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1911330" y="3900170"/>
            <a:ext cx="5405120" cy="1615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Vanilla-JS Frontend, i18n, Layout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Admin-Dashboard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Playwright E2E-Suite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Testdokumentation</a:t>
            </a:r>
            <a:r>
              <a:rPr lang="en-US" sz="1800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Unit-Tests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047750" y="7697470"/>
            <a:ext cx="16192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1047750" y="8014970"/>
            <a:ext cx="1225709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PROZESS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047750" y="8365807"/>
            <a:ext cx="532396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Kanban-Board in GitHub Projects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559550" y="8014970"/>
            <a:ext cx="1252537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GIT-FLOW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559550" y="8365807"/>
            <a:ext cx="5323967" cy="6829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geschützt · Feature-Branches · Pull Requests mit Review-Pflicht.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2071350" y="8014970"/>
            <a:ext cx="2597468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STRATEGIEWECHSEL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2071350" y="8365807"/>
            <a:ext cx="532396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mit Frontend/Backend-Split, später Feature-Teams — siehe Lessons Learned.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047750" y="9666287"/>
            <a:ext cx="302073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TEAM-ORGANISATION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1047750" y="952500"/>
            <a:ext cx="90773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TEIL II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6336169" y="952500"/>
            <a:ext cx="98028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 / 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095500" y="3124994"/>
            <a:ext cx="14519910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TEIL ZWEI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095500" y="3751580"/>
            <a:ext cx="1451991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Domäne, Architektur und Schnittstellen.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095500" y="6189980"/>
            <a:ext cx="10791825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Wie wir die Realität in Klassen, Schichten und REST-Endpunkten abgebildet haben — und warum.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724025" y="942975"/>
            <a:ext cx="30246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KLASSENDIAGRAMM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Sechs Entitäten — der Datenkern der Plattform.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047750" y="2630805"/>
            <a:ext cx="5219700" cy="358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1057275" y="2640330"/>
            <a:ext cx="5200650" cy="5876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266825" y="2792730"/>
            <a:ext cx="493757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APPUSER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266825" y="33994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Arial"/>
                <a:ea typeface="Arial"/>
                <a:cs typeface="Arial"/>
                <a:sym typeface="Arial"/>
              </a:rPr>
              <a:t>+ 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266825" y="37423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email : 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266825" y="40852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passwordHash : 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266825" y="44281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role : Role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266825" y="47710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displayName : 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057275" y="5285423"/>
            <a:ext cx="5200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266825" y="5409248"/>
            <a:ext cx="493757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— n Pet · 1 — 1 Wallet · 1 — n SittingRequest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534150" y="2630805"/>
            <a:ext cx="5219700" cy="358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6543675" y="2640330"/>
            <a:ext cx="5200650" cy="5876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753225" y="2792730"/>
            <a:ext cx="493757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753225" y="33994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Arial"/>
                <a:ea typeface="Arial"/>
                <a:cs typeface="Arial"/>
                <a:sym typeface="Arial"/>
              </a:rPr>
              <a:t>+ 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753225" y="37423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ownerId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753225" y="40852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name : 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753225" y="44281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species : Species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753225" y="47710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breed, age, 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543675" y="5285423"/>
            <a:ext cx="5200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753225" y="5409248"/>
            <a:ext cx="493757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— 1 AppUser (Owner)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2020550" y="2630805"/>
            <a:ext cx="5219700" cy="358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12030075" y="2640330"/>
            <a:ext cx="5200650" cy="5876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12239625" y="2792730"/>
            <a:ext cx="493757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SITTINGREQUEST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2239625" y="33994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Arial"/>
                <a:ea typeface="Arial"/>
                <a:cs typeface="Arial"/>
                <a:sym typeface="Arial"/>
              </a:rPr>
              <a:t>+ 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2239625" y="37423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ownerId, petId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12239625" y="40852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acceptedSitterId?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12239625" y="44281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from, to : LocalDate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12239625" y="477107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status : Status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12239625" y="5113973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priceTotal : Money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2030075" y="5628323"/>
            <a:ext cx="5200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12239625" y="5752148"/>
            <a:ext cx="493757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— 1 AppUser · 1 — n Offer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047750" y="6477635"/>
            <a:ext cx="5219700" cy="32372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1057275" y="6487160"/>
            <a:ext cx="5200650" cy="5876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266825" y="6639560"/>
            <a:ext cx="493757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266825" y="72463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Arial"/>
                <a:ea typeface="Arial"/>
                <a:cs typeface="Arial"/>
                <a:sym typeface="Arial"/>
              </a:rPr>
              <a:t>+ 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266825" y="75892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requestId, sitterId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266825" y="79321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pricePerWeek : Money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266825" y="82750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state : OfferState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266825" y="86179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createdAt : Instant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057275" y="9132252"/>
            <a:ext cx="5200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1266825" y="9256077"/>
            <a:ext cx="493757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— 1 SittingRequest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534150" y="6477635"/>
            <a:ext cx="5219700" cy="32372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6543675" y="6487160"/>
            <a:ext cx="5200650" cy="5876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6753225" y="6639560"/>
            <a:ext cx="493757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753225" y="72463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Arial"/>
                <a:ea typeface="Arial"/>
                <a:cs typeface="Arial"/>
                <a:sym typeface="Arial"/>
              </a:rPr>
              <a:t>+ 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753225" y="75892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userId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753225" y="79321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credit : Money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753225" y="82750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earnings : Money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753225" y="86179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held : Money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543675" y="9132252"/>
            <a:ext cx="5200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6753225" y="9256077"/>
            <a:ext cx="493757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— 1 AppUser · 1 — n Payment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2020550" y="6477635"/>
            <a:ext cx="5219700" cy="32372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12030075" y="6487160"/>
            <a:ext cx="5200650" cy="5876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12239625" y="6639560"/>
            <a:ext cx="493757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2239625" y="72463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Arial"/>
                <a:ea typeface="Arial"/>
                <a:cs typeface="Arial"/>
                <a:sym typeface="Arial"/>
              </a:rPr>
              <a:t>+ id : Long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2239625" y="75892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walletId, requestId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2239625" y="79321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amount : Money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2239625" y="82750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kind : HOLD | RELEASE | REFUND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12239625" y="8617902"/>
            <a:ext cx="49249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+ timestamp : Instant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2030075" y="9132252"/>
            <a:ext cx="52006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12239625" y="9256077"/>
            <a:ext cx="493757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Journal — immutable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047750" y="9666287"/>
            <a:ext cx="2572544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DOMÄNENMODELL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1724025" y="942975"/>
            <a:ext cx="21332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ARCHITEKTUR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Layered MVC — bewusst gewählt gegen Microservices.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047750" y="3270885"/>
            <a:ext cx="7715250" cy="693579"/>
          </a:xfrm>
          <a:prstGeom prst="rect">
            <a:avLst/>
          </a:prstGeom>
          <a:solidFill>
            <a:srgbClr val="C16D45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1323975" y="3451860"/>
            <a:ext cx="1622901" cy="369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575175" y="3478689"/>
            <a:ext cx="402894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Vanilla-JS Frontend · REST-Calls · i18n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932021" y="4097814"/>
            <a:ext cx="794670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▼ HTTPS · JSON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1047750" y="4508976"/>
            <a:ext cx="7715250" cy="10252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1323975" y="4689951"/>
            <a:ext cx="2893354" cy="7013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 Layer (Controllers)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133056" y="4743767"/>
            <a:ext cx="448433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@RestController · DTO-Mapping ·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932021" y="5667534"/>
            <a:ext cx="794670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1047750" y="6078696"/>
            <a:ext cx="7715250" cy="69357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1323975" y="6259671"/>
            <a:ext cx="1736090" cy="369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 Layer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3754914" y="6286500"/>
            <a:ext cx="4873817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Business-Logik · Regeln · Transaktions­grenzen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932021" y="6905625"/>
            <a:ext cx="794670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1047750" y="7316788"/>
            <a:ext cx="7715250" cy="69357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1323975" y="7497763"/>
            <a:ext cx="3277935" cy="369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Access (UnitOfWork)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4723765" y="7524591"/>
            <a:ext cx="3875900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JPA Repositories über UoW-Fassade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32021" y="8143716"/>
            <a:ext cx="7946708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▼ JPA · Hibernate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1047750" y="8554879"/>
            <a:ext cx="7715250" cy="693579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1323975" y="8735854"/>
            <a:ext cx="2272665" cy="369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H2 In-Memory DB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396581" y="8762683"/>
            <a:ext cx="42129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 · austauschbar gegen Postgres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9525000" y="3270885"/>
            <a:ext cx="7715250" cy="331327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9877425" y="3623310"/>
            <a:ext cx="722071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BEGRÜNDUNG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9877425" y="4034472"/>
            <a:ext cx="722071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Warum keine Microservices?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9877425" y="4722971"/>
            <a:ext cx="7220712" cy="1546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Drei Personen, ein Bounded Context, eine Datenbank — die Komplexität von Service-Mesh, verteilten Transaktionen und Deployment-Topologien hätte den Mehrwert nicht gerechtfertigt.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9525000" y="6812756"/>
            <a:ext cx="7715250" cy="3453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9877425" y="7165181"/>
            <a:ext cx="722071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VORTEILE HEUTE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9877425" y="7576344"/>
            <a:ext cx="7220712" cy="10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Separation of Concerns &amp; Modulith-Pfad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9877425" y="8781891"/>
            <a:ext cx="7220712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Jede Schicht hat exakt eine Verantwortung. Klare Paketgrenzen erlauben spätere Extraktion einzelner Module zu Services.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1047750" y="9666287"/>
            <a:ext cx="3916288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ARCHITEKTUR · SCHICHTEN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724025" y="942975"/>
            <a:ext cx="33143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USE-CASE-DIAGRAMM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Acht zentrale Anwendungsfälle, drei Akteure.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1771650" y="4766310"/>
            <a:ext cx="647700" cy="647700"/>
          </a:xfrm>
          <a:prstGeom prst="ellipse">
            <a:avLst/>
          </a:prstGeom>
          <a:solidFill>
            <a:srgbClr val="F5F3EE"/>
          </a:solidFill>
          <a:ln cap="flat" cmpd="sng" w="19050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1563529" y="5528310"/>
            <a:ext cx="1063943" cy="32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1771650" y="6154102"/>
            <a:ext cx="647700" cy="647700"/>
          </a:xfrm>
          <a:prstGeom prst="ellipse">
            <a:avLst/>
          </a:prstGeom>
          <a:solidFill>
            <a:srgbClr val="F5F3EE"/>
          </a:solidFill>
          <a:ln cap="flat" cmpd="sng" w="19050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1733550" y="6916102"/>
            <a:ext cx="723900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714750" y="3891915"/>
            <a:ext cx="10858500" cy="4181475"/>
          </a:xfrm>
          <a:prstGeom prst="rect">
            <a:avLst/>
          </a:prstGeom>
          <a:solidFill>
            <a:srgbClr val="ECE8DF"/>
          </a:solidFill>
          <a:ln cap="flat" cmpd="sng" w="19050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4000500" y="4215765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4148471" y="4363403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 verwalten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9229725" y="4215765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9377696" y="4363403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Haustier registrieren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000500" y="4956810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4148471" y="5104448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Anfrage erstellen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9229725" y="4956810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9377696" y="5104448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Angebote prüfen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4000500" y="5697855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4148471" y="5845493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Angebot annehmen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9229725" y="5697855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9377696" y="5845493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Betreuung abschließen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000500" y="6438900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4148471" y="6586538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Offene Anfragen suchen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9229725" y="6438900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9377696" y="6586538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Angebot abgeben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000500" y="7179945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4148471" y="7327582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Nutzer &amp; Rollen verwalten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9229725" y="7179945"/>
            <a:ext cx="5057775" cy="56959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275">
            <a:solidFill>
              <a:srgbClr val="1519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9377696" y="7327582"/>
            <a:ext cx="476183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Transaktionen überwachen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5868492" y="5460206"/>
            <a:ext cx="647700" cy="647700"/>
          </a:xfrm>
          <a:prstGeom prst="ellipse">
            <a:avLst/>
          </a:prstGeom>
          <a:solidFill>
            <a:srgbClr val="C16D45">
              <a:alpha val="12156"/>
            </a:srgbClr>
          </a:solidFill>
          <a:ln cap="flat" cmpd="sng" w="19050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15445899" y="6222206"/>
            <a:ext cx="1493044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Administrator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047750" y="9666287"/>
            <a:ext cx="163036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1724025" y="942975"/>
            <a:ext cx="45237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RUNTIME — BUCHUNGS-FLOW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Von der Anfrage bis zur Auszahlung in vier Calls.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1047750" y="2821305"/>
            <a:ext cx="3876675" cy="5495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1046750" y="2954655"/>
            <a:ext cx="3878675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153025" y="2821305"/>
            <a:ext cx="3876675" cy="5495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5152025" y="2954655"/>
            <a:ext cx="3878675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9258300" y="2821305"/>
            <a:ext cx="3876675" cy="5495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9257300" y="2954655"/>
            <a:ext cx="3878675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H2 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13363575" y="2821305"/>
            <a:ext cx="3876675" cy="549592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13362575" y="2954655"/>
            <a:ext cx="3878675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2967038" y="3447097"/>
            <a:ext cx="19050" cy="6613684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7072313" y="3447097"/>
            <a:ext cx="19050" cy="6613684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11177588" y="3447097"/>
            <a:ext cx="19050" cy="6613684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15282863" y="3447097"/>
            <a:ext cx="19050" cy="6613684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1047750" y="3561397"/>
            <a:ext cx="7981950" cy="6057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1228725" y="3704272"/>
            <a:ext cx="785945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POST /api/requests ·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Tierhalter eröffnet Anfrage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5153025" y="4395788"/>
            <a:ext cx="7981950" cy="6057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5334000" y="4538663"/>
            <a:ext cx="785945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save(PENDING) + Wallet.hold(amount) ·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Atomar via UnitOfWork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1276350" y="5230177"/>
            <a:ext cx="15963900" cy="6057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1457325" y="5373052"/>
            <a:ext cx="1608086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GET /api/requests?status=PENDING ·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Sitter prüft offene Jobs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5153025" y="6064568"/>
            <a:ext cx="7981950" cy="6057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5334000" y="6207443"/>
            <a:ext cx="785945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POST /api/offers ·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Sitter gibt Angebot 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1047750" y="6898957"/>
            <a:ext cx="7981950" cy="6057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1228725" y="7041832"/>
            <a:ext cx="7859458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PUT /api/requests/{id}/accept ·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Owner wählt Angebot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5153025" y="7733348"/>
            <a:ext cx="7981950" cy="5853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5334000" y="7876223"/>
            <a:ext cx="7859458" cy="337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status → ACCEPTED, Offer.WIN, andere REJECTED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047750" y="8547259"/>
            <a:ext cx="7981950" cy="5853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1228725" y="8690134"/>
            <a:ext cx="7859458" cy="337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PUT /api/requests/{id}/complete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5153025" y="9361170"/>
            <a:ext cx="7981950" cy="58531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5334000" y="9504045"/>
            <a:ext cx="7859458" cy="337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› </a:t>
            </a:r>
            <a:r>
              <a:rPr b="0" i="0" lang="en-US" sz="1800" u="none" cap="none" strike="noStrike">
                <a:solidFill>
                  <a:srgbClr val="2A2F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Wallet.release() → Sitter.earnings += amount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1047750" y="9666287"/>
            <a:ext cx="2907416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RUNTIME · SEQUENZ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6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1724025" y="942975"/>
            <a:ext cx="32538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TECHNOLOGIE-STACK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Pragmatischer Stack — jede Wahl mit einem Satz Begründung.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1047750" y="3695065"/>
            <a:ext cx="485775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1047750" y="3347085"/>
            <a:ext cx="4774883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SCHICHT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5905500" y="3695065"/>
            <a:ext cx="388620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5905500" y="3347085"/>
            <a:ext cx="3774186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9791700" y="3695065"/>
            <a:ext cx="744855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9791700" y="3347085"/>
            <a:ext cx="7443407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WARUM DIESE WAHL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1047750" y="4468336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1047750" y="3785553"/>
            <a:ext cx="4774883" cy="644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5905500" y="4468336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5905500" y="3785553"/>
            <a:ext cx="3774186" cy="644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 17 · Spring Boot 3.4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9791700" y="4468336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9791700" y="3785553"/>
            <a:ext cx="7443407" cy="6446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Vorgegebener Stack, ausgereifte Ökosystem-Integration für REST, JPA, Security.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1047750" y="5234464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1047750" y="4554061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5905500" y="5234464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5905500" y="4554061"/>
            <a:ext cx="3774186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Maven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9791700" y="5234464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9791700" y="4554061"/>
            <a:ext cx="7443407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Empfehlung der Aufgabenstellung, klare Lifecycle-Phasen, integrierter Surefire-Test-Runner.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047750" y="6000591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1047750" y="5320189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Persistenz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905500" y="6000591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5905500" y="5320189"/>
            <a:ext cx="3774186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Spring Data JPA · H2 In-Memory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9791700" y="6000591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9791700" y="5320189"/>
            <a:ext cx="7443407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 ohne Setup; Wechsel auf Postgres erfordert nur Connection-String-Änderung.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1047750" y="6766719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6"/>
          <p:cNvSpPr/>
          <p:nvPr/>
        </p:nvSpPr>
        <p:spPr>
          <a:xfrm>
            <a:off x="1047750" y="6086316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5905500" y="6766719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5905500" y="6086316"/>
            <a:ext cx="3774186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Spring Security · BCrypt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9791700" y="6766719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9791700" y="6086316"/>
            <a:ext cx="7443407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Filter-Chain ist Industriestandard; BCrypt ist mit Salt &amp; Cost-Factor brute-force-resistent.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1047750" y="7532846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1047750" y="6852444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5905500" y="7532846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5905500" y="6852444"/>
            <a:ext cx="3774186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Vanilla HTML5 · CSS3 · JS (ES6+)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9791700" y="7532846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9791700" y="6852444"/>
            <a:ext cx="7443407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Aufgabe verlangt nur funktionale UI — wir vermeiden Framework-Overhead und halten den Surface klein.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1047750" y="8298974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1047750" y="7618571"/>
            <a:ext cx="4774883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5905500" y="8298974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5905500" y="7618571"/>
            <a:ext cx="3774186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JUnit 5 · Playwright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9791700" y="8298974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9791700" y="7618571"/>
            <a:ext cx="7443407" cy="642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JUnit für Services; Playwright simuliert echte Browser-Flows headless in der CI.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1047750" y="9065101"/>
            <a:ext cx="48577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1047750" y="8384699"/>
            <a:ext cx="4774883" cy="64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5905500" y="9065101"/>
            <a:ext cx="38862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5905500" y="8384699"/>
            <a:ext cx="3774186" cy="64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9791700" y="9065101"/>
            <a:ext cx="74485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6"/>
          <p:cNvSpPr/>
          <p:nvPr/>
        </p:nvSpPr>
        <p:spPr>
          <a:xfrm>
            <a:off x="9791700" y="8384699"/>
            <a:ext cx="7443407" cy="64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87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 automatisch bei jedem Push.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1047750" y="9666287"/>
            <a:ext cx="30603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TECHNOLOGIE-STACK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7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1724025" y="942975"/>
            <a:ext cx="35088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REST-SCHNITTSTELLEN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Ressourcen­orientiert, statuslos, sprechende Pfade.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1047750" y="3359468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1276350" y="2802255"/>
            <a:ext cx="1047750" cy="385763"/>
          </a:xfrm>
          <a:prstGeom prst="rect">
            <a:avLst/>
          </a:prstGeom>
          <a:solidFill>
            <a:srgbClr val="4981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1352550" y="2859405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2552700" y="2859405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/api/auth/register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396389" y="2856230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anlegen, Rolle wählen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1047750" y="4192905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1276350" y="3635693"/>
            <a:ext cx="1047750" cy="385763"/>
          </a:xfrm>
          <a:prstGeom prst="rect">
            <a:avLst/>
          </a:prstGeom>
          <a:solidFill>
            <a:srgbClr val="4981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1352550" y="3692843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2552700" y="3692843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/api/auth/login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5396389" y="3689668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BCrypt-Verify, Session-Cookie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1047750" y="5026343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1276350" y="4469130"/>
            <a:ext cx="1047750" cy="385763"/>
          </a:xfrm>
          <a:prstGeom prst="rect">
            <a:avLst/>
          </a:prstGeom>
          <a:solidFill>
            <a:srgbClr val="017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1352550" y="4526280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2552700" y="4526280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5396389" y="4523105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 + Wallet-Stand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1047750" y="6029643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1276350" y="5387499"/>
            <a:ext cx="1047750" cy="385763"/>
          </a:xfrm>
          <a:prstGeom prst="rect">
            <a:avLst/>
          </a:prstGeom>
          <a:solidFill>
            <a:srgbClr val="017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1352550" y="5444649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2552700" y="5444649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/api/pets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5396389" y="5302568"/>
            <a:ext cx="3232152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Tiere des angemeldeten Owners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1047750" y="6863080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1276350" y="6305867"/>
            <a:ext cx="1047750" cy="385763"/>
          </a:xfrm>
          <a:prstGeom prst="rect">
            <a:avLst/>
          </a:prstGeom>
          <a:solidFill>
            <a:srgbClr val="4981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7"/>
          <p:cNvSpPr/>
          <p:nvPr/>
        </p:nvSpPr>
        <p:spPr>
          <a:xfrm>
            <a:off x="1352550" y="6363017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2552700" y="6363017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/api/pets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5396389" y="6359843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Tier registrieren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1047750" y="7696517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"/>
          <p:cNvSpPr/>
          <p:nvPr/>
        </p:nvSpPr>
        <p:spPr>
          <a:xfrm>
            <a:off x="1276350" y="7139305"/>
            <a:ext cx="1047750" cy="385763"/>
          </a:xfrm>
          <a:prstGeom prst="rect">
            <a:avLst/>
          </a:prstGeom>
          <a:solidFill>
            <a:srgbClr val="4981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1352550" y="7196455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2552700" y="7196455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/api/requests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5396389" y="7193280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Betreuungs­anfrage erstellen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047750" y="8687117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7"/>
          <p:cNvSpPr/>
          <p:nvPr/>
        </p:nvSpPr>
        <p:spPr>
          <a:xfrm>
            <a:off x="1276350" y="8051324"/>
            <a:ext cx="1047750" cy="385763"/>
          </a:xfrm>
          <a:prstGeom prst="rect">
            <a:avLst/>
          </a:prstGeom>
          <a:solidFill>
            <a:srgbClr val="017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1352550" y="8108474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2552700" y="7972742"/>
            <a:ext cx="269354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/api/requests?status=PENDING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5396389" y="8105299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Marktplatz für Sitter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9525000" y="3516630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9753600" y="2880836"/>
            <a:ext cx="1047750" cy="385763"/>
          </a:xfrm>
          <a:prstGeom prst="rect">
            <a:avLst/>
          </a:prstGeom>
          <a:solidFill>
            <a:srgbClr val="4981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9829800" y="2937986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11029950" y="2802255"/>
            <a:ext cx="269354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/api/requests/{id}/offers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13873639" y="2934811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Sitter gibt Angebot 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9525000" y="4519930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"/>
          <p:cNvSpPr/>
          <p:nvPr/>
        </p:nvSpPr>
        <p:spPr>
          <a:xfrm>
            <a:off x="9753600" y="3877786"/>
            <a:ext cx="1047750" cy="385763"/>
          </a:xfrm>
          <a:prstGeom prst="rect">
            <a:avLst/>
          </a:prstGeom>
          <a:solidFill>
            <a:srgbClr val="C16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9829800" y="3934936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11029950" y="3799205"/>
            <a:ext cx="269354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/api/requests/{id}/accept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13873639" y="3792855"/>
            <a:ext cx="3232152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Angebot annehmen, andere ablehnen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9525000" y="5510530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9753600" y="4874736"/>
            <a:ext cx="1047750" cy="385763"/>
          </a:xfrm>
          <a:prstGeom prst="rect">
            <a:avLst/>
          </a:prstGeom>
          <a:solidFill>
            <a:srgbClr val="C16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9829800" y="4931886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11029950" y="4796155"/>
            <a:ext cx="269354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/api/requests/{id}/complete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13873639" y="4928711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Auszahlung auslösen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9525000" y="6343967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9753600" y="5786755"/>
            <a:ext cx="1047750" cy="385763"/>
          </a:xfrm>
          <a:prstGeom prst="rect">
            <a:avLst/>
          </a:prstGeom>
          <a:solidFill>
            <a:srgbClr val="B14E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9829800" y="5843905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11029950" y="5843905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/api/requests/{id}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13873639" y="5840730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Stornieren, Hold rückbuchen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9525000" y="7177405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9753600" y="6620192"/>
            <a:ext cx="1047750" cy="385763"/>
          </a:xfrm>
          <a:prstGeom prst="rect">
            <a:avLst/>
          </a:prstGeom>
          <a:solidFill>
            <a:srgbClr val="017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9829800" y="6677342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11029950" y="6677342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/api/wallet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13873639" y="6674168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Credit, Earnings, Held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9525000" y="8010842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9753600" y="7453630"/>
            <a:ext cx="1047750" cy="385763"/>
          </a:xfrm>
          <a:prstGeom prst="rect">
            <a:avLst/>
          </a:prstGeom>
          <a:solidFill>
            <a:srgbClr val="017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9829800" y="7510780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11029950" y="7510780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/api/admin/users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13873639" y="7507605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 · Nutzerliste &amp; Rollen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9525000" y="8844280"/>
            <a:ext cx="771525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9753600" y="8287067"/>
            <a:ext cx="1047750" cy="385763"/>
          </a:xfrm>
          <a:prstGeom prst="rect">
            <a:avLst/>
          </a:prstGeom>
          <a:solidFill>
            <a:srgbClr val="017E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9829800" y="8344217"/>
            <a:ext cx="895350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11029950" y="8344217"/>
            <a:ext cx="269354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Courier New"/>
                <a:ea typeface="Courier New"/>
                <a:cs typeface="Courier New"/>
                <a:sym typeface="Courier New"/>
              </a:rPr>
              <a:t>/api/admin/payments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13873639" y="8341043"/>
            <a:ext cx="323215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 · Transaktions-Audit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1047750" y="9196705"/>
            <a:ext cx="16678275" cy="362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Fehler werden zentral durch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Courier New"/>
                <a:ea typeface="Courier New"/>
                <a:cs typeface="Courier New"/>
                <a:sym typeface="Courier New"/>
              </a:rPr>
              <a:t>GlobalExceptionHandler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Courier New"/>
                <a:ea typeface="Courier New"/>
                <a:cs typeface="Courier New"/>
                <a:sym typeface="Courier New"/>
              </a:rPr>
              <a:t>{ code, message, traceId } </a:t>
            </a: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serialisiert.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1047750" y="9666287"/>
            <a:ext cx="328333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REST-SCHNITTSTELLEN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8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1724025" y="942975"/>
            <a:ext cx="3936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DIVE · UNITOFWORK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Ein Einstiegspunkt für jeden Daten­zugriff.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1047750" y="2630805"/>
            <a:ext cx="7946708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Statt jedem Service zehn Repositories zu injizieren, kapselt die </a:t>
            </a: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sämtliche Persistenz hinter einer Fassade — inklusive Transaktions­grenzen.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1390650" y="4016693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Zentralisierung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ein Einstiegspunkt, keine zerstreuten Abhängigkeiten.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1390650" y="4999673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Transaktions­sicherheit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mehrere Operationen werden atomar gebündelt.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1390650" y="5982652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Abstraktion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Services sprechen nicht mit JPA, sondern mit der Domäne.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1390650" y="6965632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Testbarkeit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die UoW lässt sich als In-Memory-Stub mocken.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9525000" y="2630805"/>
            <a:ext cx="7715250" cy="6907530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8"/>
          <p:cNvSpPr/>
          <p:nvPr/>
        </p:nvSpPr>
        <p:spPr>
          <a:xfrm>
            <a:off x="9867900" y="2935605"/>
            <a:ext cx="7260908" cy="6336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5F3EE"/>
                </a:solidFill>
                <a:latin typeface="Arial"/>
                <a:ea typeface="Arial"/>
                <a:cs typeface="Arial"/>
                <a:sym typeface="Arial"/>
              </a:rPr>
              <a:t>// Standard Spring </a:t>
            </a:r>
            <a:r>
              <a:rPr b="0" i="0" lang="en-US" sz="1800" u="none" cap="none" strike="noStrike">
                <a:solidFill>
                  <a:srgbClr val="E7885D"/>
                </a:solidFill>
                <a:latin typeface="Arial"/>
                <a:ea typeface="Arial"/>
                <a:cs typeface="Arial"/>
                <a:sym typeface="Arial"/>
              </a:rPr>
              <a:t>@Autowired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PetRepository petRepo; </a:t>
            </a:r>
            <a:r>
              <a:rPr b="0" i="0" lang="en-US" sz="1800" u="none" cap="none" strike="noStrike">
                <a:solidFill>
                  <a:srgbClr val="E7885D"/>
                </a:solidFill>
                <a:latin typeface="Arial"/>
                <a:ea typeface="Arial"/>
                <a:cs typeface="Arial"/>
                <a:sym typeface="Arial"/>
              </a:rPr>
              <a:t>@Autowired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AppUserRepository userRepo; </a:t>
            </a:r>
            <a:r>
              <a:rPr b="0" i="0" lang="en-US" sz="1800" u="none" cap="none" strike="noStrike">
                <a:solidFill>
                  <a:srgbClr val="E7885D"/>
                </a:solidFill>
                <a:latin typeface="Arial"/>
                <a:ea typeface="Arial"/>
                <a:cs typeface="Arial"/>
                <a:sym typeface="Arial"/>
              </a:rPr>
              <a:t>@Autowired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WalletRepository walletRepo; </a:t>
            </a:r>
            <a:r>
              <a:rPr b="0" i="0" lang="en-US" sz="1800" u="none" cap="none" strike="noStrike">
                <a:solidFill>
                  <a:srgbClr val="E7885D"/>
                </a:solidFill>
                <a:latin typeface="Arial"/>
                <a:ea typeface="Arial"/>
                <a:cs typeface="Arial"/>
                <a:sym typeface="Arial"/>
              </a:rPr>
              <a:t>@Autowired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PaymentRepository paymentRepo; </a:t>
            </a:r>
            <a:r>
              <a:rPr b="0" i="1" lang="en-US" sz="1800" u="none" cap="none" strike="noStrike">
                <a:solidFill>
                  <a:srgbClr val="F5F3EE"/>
                </a:solidFill>
                <a:latin typeface="Arial"/>
                <a:ea typeface="Arial"/>
                <a:cs typeface="Arial"/>
                <a:sym typeface="Arial"/>
              </a:rPr>
              <a:t>// Pawsitters · UnitOfWork </a:t>
            </a:r>
            <a:r>
              <a:rPr b="0" i="0" lang="en-US" sz="1800" u="none" cap="none" strike="noStrike">
                <a:solidFill>
                  <a:srgbClr val="E7885D"/>
                </a:solidFill>
                <a:latin typeface="Arial"/>
                <a:ea typeface="Arial"/>
                <a:cs typeface="Arial"/>
                <a:sym typeface="Arial"/>
              </a:rPr>
              <a:t>@Autowired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UnitOfWork uow; </a:t>
            </a:r>
            <a:r>
              <a:rPr b="0" i="0" lang="en-US" sz="1800" u="none" cap="none" strike="noStrike">
                <a:solidFill>
                  <a:srgbClr val="E7885D"/>
                </a:solidFill>
                <a:latin typeface="Arial"/>
                <a:ea typeface="Arial"/>
                <a:cs typeface="Arial"/>
                <a:sym typeface="Arial"/>
              </a:rPr>
              <a:t>@Transactional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public void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E7BA97"/>
                </a:solidFill>
                <a:latin typeface="Arial"/>
                <a:ea typeface="Arial"/>
                <a:cs typeface="Arial"/>
                <a:sym typeface="Arial"/>
              </a:rPr>
              <a:t>acceptOffer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long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requestId, 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long 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offerId)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C9E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req = uow.find(SittingRequest.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, requestId);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C9E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off = uow.find(Offer.</a:t>
            </a:r>
            <a:r>
              <a:rPr b="0" i="0" lang="en-US" sz="1800" u="none" cap="none" strike="noStrike">
                <a:solidFill>
                  <a:srgbClr val="4AC9EC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, offerId);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 req.acceptWith(off);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 uow.wallets().hold(req.ownerId(), req.priceTotal());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 uow.save(req);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  uow.commit();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highlight>
                  <a:srgbClr val="15192A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1047750" y="9666287"/>
            <a:ext cx="3263219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UNITOFWORK-PATTERN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9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1724025" y="942975"/>
            <a:ext cx="38064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FINANZIELLE INTEGRITÄT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 Wallet trennt drei Töpfe — und niemand verliert Geld unterwegs.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9"/>
          <p:cNvSpPr/>
          <p:nvPr/>
        </p:nvSpPr>
        <p:spPr>
          <a:xfrm>
            <a:off x="1047750" y="3270885"/>
            <a:ext cx="7715250" cy="255889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1400175" y="3623310"/>
            <a:ext cx="722071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1400175" y="4034472"/>
            <a:ext cx="722071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Owner-Guthaben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9"/>
          <p:cNvSpPr/>
          <p:nvPr/>
        </p:nvSpPr>
        <p:spPr>
          <a:xfrm>
            <a:off x="1400175" y="4722971"/>
            <a:ext cx="7220712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Wird bei Anfrage-Erstellung als „HELD“ markiert — das Geld ist eingefroren, aber noch nicht weg.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1047750" y="6058376"/>
            <a:ext cx="7715250" cy="29360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9"/>
          <p:cNvSpPr/>
          <p:nvPr/>
        </p:nvSpPr>
        <p:spPr>
          <a:xfrm>
            <a:off x="1400175" y="6410801"/>
            <a:ext cx="7220712" cy="315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HELD → EARNINGS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9"/>
          <p:cNvSpPr/>
          <p:nvPr/>
        </p:nvSpPr>
        <p:spPr>
          <a:xfrm>
            <a:off x="1400175" y="6821964"/>
            <a:ext cx="7220712" cy="5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Escrow &amp; Auszahlung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1400175" y="7510462"/>
            <a:ext cx="7220712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Zwischen­zustand: das Geld gehört keiner Partei. Storno bucht zurück; </a:t>
            </a:r>
            <a:r>
              <a:rPr b="1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complete()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zahlt an den Sitter aus.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9525000" y="3270885"/>
            <a:ext cx="2421890" cy="21412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0"/>
              <a:buFont typeface="Helvetica Neue"/>
              <a:buNone/>
            </a:pPr>
            <a:r>
              <a:rPr b="0" i="0" lang="en-US" sz="180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9525000" y="5678805"/>
            <a:ext cx="79467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Vier konsistente Zeilen im Payment-Journal: </a:t>
            </a:r>
            <a:r>
              <a:rPr b="1" i="0" lang="en-US" sz="285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HOLD, RELEASE, REFUND, FEE</a:t>
            </a:r>
            <a:r>
              <a:rPr b="0" i="0" lang="en-US" sz="28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9525000" y="6850856"/>
            <a:ext cx="794670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2250"/>
              <a:buFont typeface="Helvetica Neue"/>
              <a:buNone/>
            </a:pPr>
            <a:r>
              <a:rPr b="0" i="0" lang="en-US" sz="225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 garantiert Alles-oder-Nichts — fällt ein Teilschritt aus, wird die gesamte Buchung rückgerollt.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1047750" y="9666287"/>
            <a:ext cx="270515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 &amp; ESCROW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9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0"/>
          <p:cNvSpPr/>
          <p:nvPr/>
        </p:nvSpPr>
        <p:spPr>
          <a:xfrm>
            <a:off x="1047750" y="952500"/>
            <a:ext cx="99441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TEIL III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16336169" y="952500"/>
            <a:ext cx="980281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 / 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2095500" y="3124994"/>
            <a:ext cx="14519910" cy="3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2100"/>
              <a:buFont typeface="Helvetica Neue"/>
              <a:buNone/>
            </a:pPr>
            <a:r>
              <a:rPr b="0" i="0" lang="en-US" sz="21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TEIL DREI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2095500" y="3751580"/>
            <a:ext cx="1451991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Qualität, Sicherheit und Betrieb.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2095500" y="6189980"/>
            <a:ext cx="10791825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Tests, Security-Konzept, CI/CD und Container — wie wir Vertrauen in den Code aufbauen.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1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1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1724025" y="942975"/>
            <a:ext cx="30107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SECURITY-KONZEPT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Sensible Daten, Risiken, Gegen­maßnahmen — auf einer Seite.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1047750" y="3960495"/>
            <a:ext cx="5397500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1257300" y="3461385"/>
            <a:ext cx="5140325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SENSIBLES ASSET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6445250" y="3960495"/>
            <a:ext cx="4906804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>
            <a:off x="6654800" y="3461385"/>
            <a:ext cx="463490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RISIKO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11352054" y="3960495"/>
            <a:ext cx="5888196" cy="14288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1"/>
          <p:cNvSpPr/>
          <p:nvPr/>
        </p:nvSpPr>
        <p:spPr>
          <a:xfrm>
            <a:off x="11561604" y="3461385"/>
            <a:ext cx="564574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GEGENMASSNAHME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1047750" y="4664392"/>
            <a:ext cx="5397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1"/>
          <p:cNvSpPr/>
          <p:nvPr/>
        </p:nvSpPr>
        <p:spPr>
          <a:xfrm>
            <a:off x="1257300" y="4165282"/>
            <a:ext cx="5140325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Passwörter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6445250" y="4664392"/>
            <a:ext cx="4906804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6654800" y="4165282"/>
            <a:ext cx="463490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Klartext-Leak bei DB-Dump · Brute-Force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11352054" y="4664392"/>
            <a:ext cx="5888196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11561604" y="4165282"/>
            <a:ext cx="564574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BCrypt-Hash mit Salt + Cost 12 · nie in Logs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1047750" y="5672138"/>
            <a:ext cx="5397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1"/>
          <p:cNvSpPr/>
          <p:nvPr/>
        </p:nvSpPr>
        <p:spPr>
          <a:xfrm>
            <a:off x="1257300" y="4864418"/>
            <a:ext cx="514032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Session-Cookies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6445250" y="5672138"/>
            <a:ext cx="4906804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6654800" y="4864418"/>
            <a:ext cx="4634908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Session-Hijacking, CSRF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11352054" y="5672138"/>
            <a:ext cx="5888196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1"/>
          <p:cNvSpPr/>
          <p:nvPr/>
        </p:nvSpPr>
        <p:spPr>
          <a:xfrm>
            <a:off x="11561604" y="4864418"/>
            <a:ext cx="5645742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HttpOnly · SameSite=Strict · CSRF-Token für State-Changes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1047750" y="6371272"/>
            <a:ext cx="5397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1257300" y="5872163"/>
            <a:ext cx="5140325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Persönliche Daten (Tiere, Adressen)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6445250" y="6371272"/>
            <a:ext cx="4906804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6654800" y="5872163"/>
            <a:ext cx="463490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Unbefugte Einsicht durch andere Nutzer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11352054" y="6371272"/>
            <a:ext cx="5888196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11561604" y="5872163"/>
            <a:ext cx="564574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Server­seitige Owner-Prüfung in jedem Service-Aufruf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1047750" y="7379018"/>
            <a:ext cx="5397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1"/>
          <p:cNvSpPr/>
          <p:nvPr/>
        </p:nvSpPr>
        <p:spPr>
          <a:xfrm>
            <a:off x="1257300" y="6571298"/>
            <a:ext cx="514032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Wallet-Bewegungen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6445250" y="7379018"/>
            <a:ext cx="4906804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1"/>
          <p:cNvSpPr/>
          <p:nvPr/>
        </p:nvSpPr>
        <p:spPr>
          <a:xfrm>
            <a:off x="6654800" y="6571298"/>
            <a:ext cx="4634908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Manipulation, doppelte Auszahlung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11352054" y="7379018"/>
            <a:ext cx="5888196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1"/>
          <p:cNvSpPr/>
          <p:nvPr/>
        </p:nvSpPr>
        <p:spPr>
          <a:xfrm>
            <a:off x="11561604" y="6571298"/>
            <a:ext cx="5645742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Atomare UoW-Transaktion · unveränderliches Payment-Journal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1047750" y="8391525"/>
            <a:ext cx="5397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1"/>
          <p:cNvSpPr/>
          <p:nvPr/>
        </p:nvSpPr>
        <p:spPr>
          <a:xfrm>
            <a:off x="1257300" y="7579043"/>
            <a:ext cx="5140325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Admin-Endpunkte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6445250" y="8391525"/>
            <a:ext cx="4906804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1"/>
          <p:cNvSpPr/>
          <p:nvPr/>
        </p:nvSpPr>
        <p:spPr>
          <a:xfrm>
            <a:off x="6654800" y="7579043"/>
            <a:ext cx="4634908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Privilege Escalation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/>
          <p:nvPr/>
        </p:nvSpPr>
        <p:spPr>
          <a:xfrm>
            <a:off x="11352054" y="8391525"/>
            <a:ext cx="5888196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1"/>
          <p:cNvSpPr/>
          <p:nvPr/>
        </p:nvSpPr>
        <p:spPr>
          <a:xfrm>
            <a:off x="11561604" y="7579043"/>
            <a:ext cx="5645742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Courier New"/>
                <a:ea typeface="Courier New"/>
                <a:cs typeface="Courier New"/>
                <a:sym typeface="Courier New"/>
              </a:rPr>
              <a:t>@PreAuthorize("hasRole('ADMIN')")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auf Methoden- und URL-Ebene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/>
          <p:nvPr/>
        </p:nvSpPr>
        <p:spPr>
          <a:xfrm>
            <a:off x="1047750" y="9399270"/>
            <a:ext cx="5397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1"/>
          <p:cNvSpPr/>
          <p:nvPr/>
        </p:nvSpPr>
        <p:spPr>
          <a:xfrm>
            <a:off x="1257300" y="8591550"/>
            <a:ext cx="514032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Eingaben (Formulare, IDs)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1"/>
          <p:cNvSpPr/>
          <p:nvPr/>
        </p:nvSpPr>
        <p:spPr>
          <a:xfrm>
            <a:off x="6445250" y="9399270"/>
            <a:ext cx="4906804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1"/>
          <p:cNvSpPr/>
          <p:nvPr/>
        </p:nvSpPr>
        <p:spPr>
          <a:xfrm>
            <a:off x="6654800" y="8591550"/>
            <a:ext cx="4634908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Injection, IDOR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1"/>
          <p:cNvSpPr/>
          <p:nvPr/>
        </p:nvSpPr>
        <p:spPr>
          <a:xfrm>
            <a:off x="11352054" y="9399270"/>
            <a:ext cx="5888196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1"/>
          <p:cNvSpPr/>
          <p:nvPr/>
        </p:nvSpPr>
        <p:spPr>
          <a:xfrm>
            <a:off x="11561604" y="8591550"/>
            <a:ext cx="5645742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JPA-Parametrisierung · Bean-Validation · Zugriff über Ownership-Filter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1"/>
          <p:cNvSpPr/>
          <p:nvPr/>
        </p:nvSpPr>
        <p:spPr>
          <a:xfrm>
            <a:off x="1047750" y="9666287"/>
            <a:ext cx="2821899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SECURITY-KONZEPT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1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2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2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1724025" y="942975"/>
            <a:ext cx="510747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OWASP &amp; „SHIFT SECURITY LEFT“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Sicherheit nicht am Ende — sondern in jedem Commit.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1047750" y="327088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OWASP Top 10 — adressiert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1390650" y="421005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A01 Broken Access Control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Owner-Check serverseitig, keine UI-Trust.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1390650" y="519303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A02 Cryptographic Failures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BCrypt statt MD5/SHA, kein Klartext.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1390650" y="617601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A03 Injection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JPA-Parameter, keine String-Konkatenation.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1390650" y="715899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A05 Security Misconfiguration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Defaults gehärtet, Stack-Traces aus Prod.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2"/>
          <p:cNvSpPr/>
          <p:nvPr/>
        </p:nvSpPr>
        <p:spPr>
          <a:xfrm>
            <a:off x="1390650" y="814197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A07 Identification &amp; Auth Failures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Rate-Limit, sichere Cookies.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2"/>
          <p:cNvSpPr/>
          <p:nvPr/>
        </p:nvSpPr>
        <p:spPr>
          <a:xfrm>
            <a:off x="9525000" y="327088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Shift Security Left — Praxis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9525000" y="4133850"/>
            <a:ext cx="7715250" cy="1388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2"/>
          <p:cNvSpPr/>
          <p:nvPr/>
        </p:nvSpPr>
        <p:spPr>
          <a:xfrm>
            <a:off x="9744075" y="4295775"/>
            <a:ext cx="749541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/>
          <p:nvPr/>
        </p:nvSpPr>
        <p:spPr>
          <a:xfrm>
            <a:off x="9744075" y="4668838"/>
            <a:ext cx="749541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Threat-Modeling auf jeder neuen 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9744075" y="5052219"/>
            <a:ext cx="749541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STRIDE-Schnellcheck im Kanban-Ticket vor Implementierung.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9525000" y="5598954"/>
            <a:ext cx="7715250" cy="1388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"/>
          <p:cNvSpPr/>
          <p:nvPr/>
        </p:nvSpPr>
        <p:spPr>
          <a:xfrm>
            <a:off x="9744075" y="5760879"/>
            <a:ext cx="749541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9744075" y="6133941"/>
            <a:ext cx="749541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SAST-Linter im Pre-Commit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9744075" y="6517323"/>
            <a:ext cx="749541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SpotBugs + Find-Sec-Bugs blockieren bekannte Anti-Patterns.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2"/>
          <p:cNvSpPr/>
          <p:nvPr/>
        </p:nvSpPr>
        <p:spPr>
          <a:xfrm>
            <a:off x="9525000" y="7064057"/>
            <a:ext cx="7715250" cy="1388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2"/>
          <p:cNvSpPr/>
          <p:nvPr/>
        </p:nvSpPr>
        <p:spPr>
          <a:xfrm>
            <a:off x="9744075" y="7225982"/>
            <a:ext cx="749541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9744075" y="7599045"/>
            <a:ext cx="749541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Dependency-Scan in der CI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9744075" y="7982426"/>
            <a:ext cx="749541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OWASP Dependency-Check schlägt bei CVE &gt; 7.0 fehl.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9525000" y="8529161"/>
            <a:ext cx="7715250" cy="1388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2"/>
          <p:cNvSpPr/>
          <p:nvPr/>
        </p:nvSpPr>
        <p:spPr>
          <a:xfrm>
            <a:off x="9744075" y="8691086"/>
            <a:ext cx="749541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2"/>
          <p:cNvSpPr/>
          <p:nvPr/>
        </p:nvSpPr>
        <p:spPr>
          <a:xfrm>
            <a:off x="9744075" y="9064149"/>
            <a:ext cx="749541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950"/>
              <a:buFont typeface="Helvetica Neue"/>
              <a:buNone/>
            </a:pPr>
            <a:r>
              <a:rPr b="0" i="0" lang="en-US" sz="19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Negativ-Tests als Pflicht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9744075" y="9447530"/>
            <a:ext cx="749541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Jeder Auth-Pfad hat einen „darf-nicht“-Test.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1047750" y="9666287"/>
            <a:ext cx="290447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OWASP · SHIFT LEFT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2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3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3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1724025" y="942975"/>
            <a:ext cx="24106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TESTSTRATEGIE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Pyramide statt Eis-Bombe — breit unten, schmal oben.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1047750" y="3270885"/>
            <a:ext cx="377713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r>
              <a:rPr b="0" i="0" lang="en-US" sz="36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1047750" y="4490085"/>
            <a:ext cx="3777139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Unit-Tests (JUnit 5) — Services &amp; Domain-Logik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5095875" y="3270885"/>
            <a:ext cx="377713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5095875" y="4490085"/>
            <a:ext cx="3777139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E2E-Szenarien (Playwright) — kritische User-Flows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1047750" y="5488305"/>
            <a:ext cx="377713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1047750" y="6707505"/>
            <a:ext cx="3777139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Integrations­tests — Controller bis 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5095875" y="5488305"/>
            <a:ext cx="377713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8250"/>
              <a:buFont typeface="Helvetica Neue"/>
              <a:buNone/>
            </a:pPr>
            <a:r>
              <a:rPr b="0" i="0" lang="en-US" sz="8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</a:t>
            </a:r>
            <a:r>
              <a:rPr b="0" i="0" lang="en-US" sz="36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5095875" y="6707505"/>
            <a:ext cx="3777139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Line-Coverage Service-Schicht (JaCoCo)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1047750" y="7820025"/>
            <a:ext cx="21717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 &amp; Registrierung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3371850" y="7873206"/>
            <a:ext cx="4400550" cy="171450"/>
          </a:xfrm>
          <a:prstGeom prst="rect">
            <a:avLst/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3"/>
          <p:cNvSpPr/>
          <p:nvPr/>
        </p:nvSpPr>
        <p:spPr>
          <a:xfrm>
            <a:off x="3371850" y="7873206"/>
            <a:ext cx="4048442" cy="171450"/>
          </a:xfrm>
          <a:prstGeom prst="rect">
            <a:avLst/>
          </a:prstGeom>
          <a:solidFill>
            <a:srgbClr val="C16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3"/>
          <p:cNvSpPr/>
          <p:nvPr/>
        </p:nvSpPr>
        <p:spPr>
          <a:xfrm>
            <a:off x="8001000" y="7820025"/>
            <a:ext cx="8382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1047750" y="8307388"/>
            <a:ext cx="21717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Request- &amp; Offer-Flow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3"/>
          <p:cNvSpPr/>
          <p:nvPr/>
        </p:nvSpPr>
        <p:spPr>
          <a:xfrm>
            <a:off x="3371850" y="8499475"/>
            <a:ext cx="4400550" cy="171450"/>
          </a:xfrm>
          <a:prstGeom prst="rect">
            <a:avLst/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3"/>
          <p:cNvSpPr/>
          <p:nvPr/>
        </p:nvSpPr>
        <p:spPr>
          <a:xfrm>
            <a:off x="3371850" y="8499475"/>
            <a:ext cx="3872389" cy="171450"/>
          </a:xfrm>
          <a:prstGeom prst="rect">
            <a:avLst/>
          </a:prstGeom>
          <a:solidFill>
            <a:srgbClr val="C16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3"/>
          <p:cNvSpPr/>
          <p:nvPr/>
        </p:nvSpPr>
        <p:spPr>
          <a:xfrm>
            <a:off x="8001000" y="8446294"/>
            <a:ext cx="8382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1047750" y="9072563"/>
            <a:ext cx="21717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 &amp; Payment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3371850" y="9125744"/>
            <a:ext cx="4400550" cy="171450"/>
          </a:xfrm>
          <a:prstGeom prst="rect">
            <a:avLst/>
          </a:prstGeom>
          <a:solidFill>
            <a:srgbClr val="ECE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3"/>
          <p:cNvSpPr/>
          <p:nvPr/>
        </p:nvSpPr>
        <p:spPr>
          <a:xfrm>
            <a:off x="3371850" y="9125744"/>
            <a:ext cx="4180522" cy="171450"/>
          </a:xfrm>
          <a:prstGeom prst="rect">
            <a:avLst/>
          </a:prstGeom>
          <a:solidFill>
            <a:srgbClr val="C16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3"/>
          <p:cNvSpPr/>
          <p:nvPr/>
        </p:nvSpPr>
        <p:spPr>
          <a:xfrm>
            <a:off x="8001000" y="9072563"/>
            <a:ext cx="8382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3"/>
          <p:cNvSpPr/>
          <p:nvPr/>
        </p:nvSpPr>
        <p:spPr>
          <a:xfrm>
            <a:off x="9525000" y="327088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Cases, die uns wichtig sind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3"/>
          <p:cNvSpPr/>
          <p:nvPr/>
        </p:nvSpPr>
        <p:spPr>
          <a:xfrm>
            <a:off x="9867900" y="413385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Login mit falschem Passwort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gleiche Antwortzeit wie bei korrektem (Timing-Schutz).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3"/>
          <p:cNvSpPr/>
          <p:nvPr/>
        </p:nvSpPr>
        <p:spPr>
          <a:xfrm>
            <a:off x="9867900" y="511683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Doppelte E-Mail-Registrierung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Validierung auf DB-Constraint-Ebene.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3"/>
          <p:cNvSpPr/>
          <p:nvPr/>
        </p:nvSpPr>
        <p:spPr>
          <a:xfrm>
            <a:off x="9867900" y="609981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Eigene Anfrage akzeptieren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Service blockt mit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Courier New"/>
                <a:ea typeface="Courier New"/>
                <a:cs typeface="Courier New"/>
                <a:sym typeface="Courier New"/>
              </a:rPr>
              <a:t>DomainException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9867900" y="708279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Wallet-Überzahlung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Hold schlägt fehl bevor Status wechselt.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9867900" y="8065770"/>
            <a:ext cx="7603808" cy="415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Parallele Acceptance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Optimistic Locking via </a:t>
            </a:r>
            <a:r>
              <a:rPr b="0" i="0" lang="en-US" sz="1800" u="none" cap="none" strike="noStrike">
                <a:solidFill>
                  <a:srgbClr val="2A2F44"/>
                </a:solidFill>
                <a:latin typeface="Courier New"/>
                <a:ea typeface="Courier New"/>
                <a:cs typeface="Courier New"/>
                <a:sym typeface="Courier New"/>
              </a:rPr>
              <a:t>@Version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1047750" y="9666287"/>
            <a:ext cx="2249805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TESTSTRATEGIE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4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4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1724025" y="942975"/>
            <a:ext cx="3005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CI/CD &amp; CONTAINER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Jeder Push durchläuft </a:t>
            </a:r>
            <a:r>
              <a:rPr lang="en-US" sz="4800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Stationen, bevor er „grün“ ist.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4"/>
          <p:cNvSpPr/>
          <p:nvPr/>
        </p:nvSpPr>
        <p:spPr>
          <a:xfrm>
            <a:off x="1047750" y="4064251"/>
            <a:ext cx="4777200" cy="3308700"/>
          </a:xfrm>
          <a:prstGeom prst="rect">
            <a:avLst/>
          </a:prstGeom>
          <a:solidFill>
            <a:srgbClr val="FFFFFF"/>
          </a:solidFill>
          <a:ln cap="flat" cmpd="sng" w="14600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50" lIns="140150" spcFirstLastPara="1" rIns="140150" wrap="square" tIns="140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4"/>
          <p:cNvSpPr/>
          <p:nvPr/>
        </p:nvSpPr>
        <p:spPr>
          <a:xfrm>
            <a:off x="1383551" y="4429252"/>
            <a:ext cx="4228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2759"/>
              <a:buFont typeface="Helvetica Neue"/>
              <a:buNone/>
            </a:pPr>
            <a:r>
              <a:rPr b="0" i="0" lang="en-US" sz="2759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 · SOURCE</a:t>
            </a:r>
            <a:endParaRPr b="0" i="0" sz="27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1383551" y="5001086"/>
            <a:ext cx="42288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989"/>
              <a:buFont typeface="Helvetica Neue"/>
              <a:buNone/>
            </a:pPr>
            <a:r>
              <a:rPr b="0" i="0" lang="en-US" sz="2989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Push / PR</a:t>
            </a:r>
            <a:endParaRPr b="0" i="0" sz="29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1383551" y="5588739"/>
            <a:ext cx="42288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2759"/>
              <a:buFont typeface="Helvetica Neue"/>
              <a:buNone/>
            </a:pPr>
            <a:r>
              <a:rPr b="0" i="0" lang="en-US" sz="2759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Branch-Schutz auf </a:t>
            </a:r>
            <a:r>
              <a:rPr b="0" i="0" lang="en-US" sz="2759" u="none" cap="none" strike="noStrike">
                <a:solidFill>
                  <a:srgbClr val="6B675F"/>
                </a:solidFill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b="0" i="0" lang="en-US" sz="2759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</a:t>
            </a:r>
            <a:r>
              <a:rPr lang="en-US" sz="2759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2759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Reviewer-Pflicht.</a:t>
            </a:r>
            <a:endParaRPr b="0" i="0" sz="27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6565722" y="4064251"/>
            <a:ext cx="4777200" cy="3308400"/>
          </a:xfrm>
          <a:prstGeom prst="rect">
            <a:avLst/>
          </a:prstGeom>
          <a:solidFill>
            <a:srgbClr val="FFFFFF"/>
          </a:solidFill>
          <a:ln cap="flat" cmpd="sng" w="14600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25" lIns="140125" spcFirstLastPara="1" rIns="140125" wrap="square" tIns="14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4"/>
          <p:cNvSpPr/>
          <p:nvPr/>
        </p:nvSpPr>
        <p:spPr>
          <a:xfrm>
            <a:off x="6901515" y="4429243"/>
            <a:ext cx="42285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2759"/>
              <a:buFont typeface="Helvetica Neue"/>
              <a:buNone/>
            </a:pPr>
            <a:r>
              <a:rPr b="0" i="0" lang="en-US" sz="2759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 · BUILD</a:t>
            </a:r>
            <a:endParaRPr b="0" i="0" sz="27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4"/>
          <p:cNvSpPr/>
          <p:nvPr/>
        </p:nvSpPr>
        <p:spPr>
          <a:xfrm>
            <a:off x="6901515" y="5001063"/>
            <a:ext cx="4228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989"/>
              <a:buFont typeface="Helvetica Neue"/>
              <a:buNone/>
            </a:pPr>
            <a:r>
              <a:rPr b="0" i="0" lang="en-US" sz="2989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Maven verify</a:t>
            </a:r>
            <a:endParaRPr b="0" i="0" sz="29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6901515" y="5588702"/>
            <a:ext cx="42285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2759"/>
              <a:buFont typeface="Helvetica Neue"/>
              <a:buNone/>
            </a:pPr>
            <a:r>
              <a:rPr b="0" i="0" lang="en-US" sz="2759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 · SpotBugs · Dependency-Check.</a:t>
            </a:r>
            <a:endParaRPr b="0" i="0" sz="27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4"/>
          <p:cNvSpPr/>
          <p:nvPr/>
        </p:nvSpPr>
        <p:spPr>
          <a:xfrm>
            <a:off x="11947495" y="4064251"/>
            <a:ext cx="4777200" cy="3308400"/>
          </a:xfrm>
          <a:prstGeom prst="rect">
            <a:avLst/>
          </a:prstGeom>
          <a:solidFill>
            <a:srgbClr val="FFFFFF"/>
          </a:solidFill>
          <a:ln cap="flat" cmpd="sng" w="14600">
            <a:solidFill>
              <a:srgbClr val="D9D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25" lIns="140125" spcFirstLastPara="1" rIns="140125" wrap="square" tIns="14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4"/>
          <p:cNvSpPr/>
          <p:nvPr/>
        </p:nvSpPr>
        <p:spPr>
          <a:xfrm>
            <a:off x="12283287" y="4429243"/>
            <a:ext cx="42285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2759"/>
              <a:buFont typeface="Helvetica Neue"/>
              <a:buNone/>
            </a:pPr>
            <a:r>
              <a:rPr b="0" i="0" lang="en-US" sz="2759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 · TEST</a:t>
            </a:r>
            <a:endParaRPr b="0" i="0" sz="27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12283287" y="5001064"/>
            <a:ext cx="4228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989"/>
              <a:buFont typeface="Helvetica Neue"/>
              <a:buNone/>
            </a:pPr>
            <a:r>
              <a:rPr b="0" i="0" lang="en-US" sz="2989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JUnit + Playwright</a:t>
            </a:r>
            <a:endParaRPr b="0" i="0" sz="29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12283287" y="5588702"/>
            <a:ext cx="4228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25" lIns="38925" spcFirstLastPara="1" rIns="38925" wrap="square" tIns="3892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2759"/>
              <a:buFont typeface="Helvetica Neue"/>
              <a:buNone/>
            </a:pPr>
            <a:r>
              <a:rPr b="0" i="0" lang="en-US" sz="2759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JaCoCo-Bericht als Artefakt · Coverage-Gate &gt; 75 %.</a:t>
            </a:r>
            <a:endParaRPr b="0" i="0" sz="27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1047750" y="9666287"/>
            <a:ext cx="280718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CI/CD &amp; CONTAINER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5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5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5"/>
          <p:cNvSpPr/>
          <p:nvPr/>
        </p:nvSpPr>
        <p:spPr>
          <a:xfrm>
            <a:off x="1724025" y="942975"/>
            <a:ext cx="17279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KI-EINSATZ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5"/>
          <p:cNvSpPr/>
          <p:nvPr/>
        </p:nvSpPr>
        <p:spPr>
          <a:xfrm>
            <a:off x="1047750" y="1647825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Mehrwert mit Maß — und ein offener Blick auf die Risiken.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5"/>
          <p:cNvSpPr/>
          <p:nvPr/>
        </p:nvSpPr>
        <p:spPr>
          <a:xfrm>
            <a:off x="1047750" y="327088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Echter Mehrwert für Pawsitters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5"/>
          <p:cNvSpPr/>
          <p:nvPr/>
        </p:nvSpPr>
        <p:spPr>
          <a:xfrm>
            <a:off x="1390650" y="413385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Matching-Heuristik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passende Anfragen rangieren (Tierart, Distanz, Bewertung) statt simple Filter.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/>
          <p:nvPr/>
        </p:nvSpPr>
        <p:spPr>
          <a:xfrm>
            <a:off x="1390650" y="511683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Profil-Hygiene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Klassifikator gegen unpassende Bilder oder Beschreibungen vor Veröffentlichung.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1390650" y="609981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Streit­schlichtung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Vorqualifizierung von Dispute-Nachrichten für Admins.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5"/>
          <p:cNvSpPr/>
          <p:nvPr/>
        </p:nvSpPr>
        <p:spPr>
          <a:xfrm>
            <a:off x="1390650" y="708279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Übersetzung DE / EN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Profil­texte beim Veröffentlichen sprachneutralisieren.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1047750" y="8294370"/>
            <a:ext cx="7946708" cy="6829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der Entwicklung: GitHub Copilot &amp; Claude Sonnet 4 für Boilerplate, Testgerüste und Doku-Erstgüsse.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5"/>
          <p:cNvSpPr/>
          <p:nvPr/>
        </p:nvSpPr>
        <p:spPr>
          <a:xfrm>
            <a:off x="9525000" y="327088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Risiken, die wir benennen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9867900" y="4133850"/>
            <a:ext cx="7603808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Halluzinierter Code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APIs, die nicht existieren; Gegenmaßnahme: </a:t>
            </a:r>
            <a:r>
              <a:rPr b="0" i="1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jeder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Vorschlag durchläuft Review &amp; Test.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5"/>
          <p:cNvSpPr/>
          <p:nvPr/>
        </p:nvSpPr>
        <p:spPr>
          <a:xfrm>
            <a:off x="9867900" y="549402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Verstecktes Wissens­defizit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KI liefert Lösung, Team versteht sie nicht; daher Erklär-Pflicht im PR.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/>
          <p:nvPr/>
        </p:nvSpPr>
        <p:spPr>
          <a:xfrm>
            <a:off x="9867900" y="647700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Daten­leck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keine Kund­endaten in Prompts; Repository-Code ja, Wallet-Inhalte nein.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5"/>
          <p:cNvSpPr/>
          <p:nvPr/>
        </p:nvSpPr>
        <p:spPr>
          <a:xfrm>
            <a:off x="9867900" y="7459980"/>
            <a:ext cx="7603808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Bias im Matching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Trainings­daten bevorzugen ggf. bestimmte Gruppen; deshalb explainable scoring statt Black-Box.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5"/>
          <p:cNvSpPr/>
          <p:nvPr/>
        </p:nvSpPr>
        <p:spPr>
          <a:xfrm>
            <a:off x="1047750" y="9666287"/>
            <a:ext cx="1607502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KI-EINSATZ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5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6"/>
          <p:cNvSpPr/>
          <p:nvPr/>
        </p:nvSpPr>
        <p:spPr>
          <a:xfrm>
            <a:off x="1047750" y="857250"/>
            <a:ext cx="447675" cy="447675"/>
          </a:xfrm>
          <a:prstGeom prst="ellipse">
            <a:avLst/>
          </a:prstGeom>
          <a:noFill/>
          <a:ln cap="flat" cmpd="sng" w="14275">
            <a:solidFill>
              <a:srgbClr val="C16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6"/>
          <p:cNvSpPr/>
          <p:nvPr/>
        </p:nvSpPr>
        <p:spPr>
          <a:xfrm>
            <a:off x="1023937" y="871538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6"/>
          <p:cNvSpPr/>
          <p:nvPr/>
        </p:nvSpPr>
        <p:spPr>
          <a:xfrm>
            <a:off x="1724025" y="942975"/>
            <a:ext cx="28855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6D45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C16D4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LESSONS LEARNED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6"/>
          <p:cNvSpPr/>
          <p:nvPr/>
        </p:nvSpPr>
        <p:spPr>
          <a:xfrm>
            <a:off x="1047750" y="1647825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Was würden wir beim zweiten Mal anders machen?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6"/>
          <p:cNvSpPr/>
          <p:nvPr/>
        </p:nvSpPr>
        <p:spPr>
          <a:xfrm>
            <a:off x="1047750" y="263080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Hat funktioniert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6"/>
          <p:cNvSpPr/>
          <p:nvPr/>
        </p:nvSpPr>
        <p:spPr>
          <a:xfrm>
            <a:off x="1390650" y="334137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Kanban &amp; WIP-Limits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sichtbare Engpässe, klare Übergaben.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6"/>
          <p:cNvSpPr/>
          <p:nvPr/>
        </p:nvSpPr>
        <p:spPr>
          <a:xfrm>
            <a:off x="1390650" y="432435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UnitOfWork früh eingeführt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hat uns die Wallet-Logik gerettet.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6"/>
          <p:cNvSpPr/>
          <p:nvPr/>
        </p:nvSpPr>
        <p:spPr>
          <a:xfrm>
            <a:off x="1390650" y="530733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Negativ-Tests als Pflicht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drei reale Bugs vor dem ersten Demo gefunden.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6"/>
          <p:cNvSpPr/>
          <p:nvPr/>
        </p:nvSpPr>
        <p:spPr>
          <a:xfrm>
            <a:off x="1390650" y="629031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Pull-Request-Reviews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geteiltes Code-Verständnis, keine Wissens-Inseln.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6"/>
          <p:cNvSpPr/>
          <p:nvPr/>
        </p:nvSpPr>
        <p:spPr>
          <a:xfrm>
            <a:off x="9525000" y="2630805"/>
            <a:ext cx="7946708" cy="5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F44"/>
              </a:buClr>
              <a:buSzPts val="3300"/>
              <a:buFont typeface="Helvetica Neue"/>
              <a:buNone/>
            </a:pPr>
            <a:r>
              <a:rPr b="0" i="0" lang="en-US" sz="330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Würden wir ändern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6"/>
          <p:cNvSpPr/>
          <p:nvPr/>
        </p:nvSpPr>
        <p:spPr>
          <a:xfrm>
            <a:off x="9867900" y="334137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 / Backend-Split zu lange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der Wechsel zu Feature-Teams kam spät.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6"/>
          <p:cNvSpPr/>
          <p:nvPr/>
        </p:nvSpPr>
        <p:spPr>
          <a:xfrm>
            <a:off x="9867900" y="432435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H2 als Standard­wahl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frühe Postgres-Integration hätte produktions­näher gemacht.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6"/>
          <p:cNvSpPr/>
          <p:nvPr/>
        </p:nvSpPr>
        <p:spPr>
          <a:xfrm>
            <a:off x="9867900" y="530733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Mehr Integration­stests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wir haben Edge-Cases auf Unit-Ebene überrepräsentiert.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6"/>
          <p:cNvSpPr/>
          <p:nvPr/>
        </p:nvSpPr>
        <p:spPr>
          <a:xfrm>
            <a:off x="9867900" y="6290310"/>
            <a:ext cx="7603808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250"/>
              <a:buFont typeface="Helvetica Neue"/>
              <a:buNone/>
            </a:pPr>
            <a:r>
              <a:rPr b="1" i="0" lang="en-US" sz="225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Threat-Modeling am Anfang </a:t>
            </a:r>
            <a:r>
              <a:rPr b="0" i="0" lang="en-US" sz="2250" u="none" cap="none" strike="noStrike">
                <a:solidFill>
                  <a:srgbClr val="2A2F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wir haben es zu spät systematisch gemacht.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6"/>
          <p:cNvSpPr/>
          <p:nvPr/>
        </p:nvSpPr>
        <p:spPr>
          <a:xfrm>
            <a:off x="1047750" y="7419975"/>
            <a:ext cx="16192500" cy="9525"/>
          </a:xfrm>
          <a:prstGeom prst="rect">
            <a:avLst/>
          </a:prstGeom>
          <a:solidFill>
            <a:srgbClr val="D9D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6"/>
          <p:cNvSpPr/>
          <p:nvPr/>
        </p:nvSpPr>
        <p:spPr>
          <a:xfrm>
            <a:off x="1047750" y="8039100"/>
            <a:ext cx="147161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92A"/>
              </a:buClr>
              <a:buSzPts val="2700"/>
              <a:buFont typeface="Helvetica Neue"/>
              <a:buNone/>
            </a:pPr>
            <a:r>
              <a:rPr b="0" i="0" lang="en-US" sz="2700" u="none" cap="none" strike="noStrike">
                <a:solidFill>
                  <a:srgbClr val="1519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Eine Architektur ist nie fertig — sie ist nur an einem bestimmten Punkt gut genug, um die nächste Entscheidung tragen zu können.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6"/>
          <p:cNvSpPr/>
          <p:nvPr/>
        </p:nvSpPr>
        <p:spPr>
          <a:xfrm>
            <a:off x="1047750" y="9666287"/>
            <a:ext cx="2710710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LESSONS LEARNED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6"/>
          <p:cNvSpPr/>
          <p:nvPr/>
        </p:nvSpPr>
        <p:spPr>
          <a:xfrm>
            <a:off x="16921797" y="9666287"/>
            <a:ext cx="394653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75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6B67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EE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7"/>
          <p:cNvSpPr/>
          <p:nvPr/>
        </p:nvSpPr>
        <p:spPr>
          <a:xfrm>
            <a:off x="2095500" y="1736566"/>
            <a:ext cx="762000" cy="38100"/>
          </a:xfrm>
          <a:prstGeom prst="rect">
            <a:avLst/>
          </a:prstGeom>
          <a:solidFill>
            <a:srgbClr val="C16D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7"/>
          <p:cNvSpPr/>
          <p:nvPr/>
        </p:nvSpPr>
        <p:spPr>
          <a:xfrm>
            <a:off x="2095500" y="2231866"/>
            <a:ext cx="11084186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15000"/>
              <a:buFont typeface="Helvetica Neue"/>
              <a:buNone/>
            </a:pPr>
            <a:r>
              <a:rPr b="0" i="0" lang="en-US" sz="1500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Fragen &amp; Diskussion.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7"/>
          <p:cNvSpPr/>
          <p:nvPr/>
        </p:nvSpPr>
        <p:spPr>
          <a:xfrm>
            <a:off x="2095500" y="6194266"/>
            <a:ext cx="9810750" cy="13544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3EE"/>
              </a:buClr>
              <a:buSzPts val="2850"/>
              <a:buFont typeface="Helvetica Neue"/>
              <a:buNone/>
            </a:pPr>
            <a:r>
              <a:rPr b="0" i="0" lang="en-US" sz="2850" u="none" cap="none" strike="noStrike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Vielen Dank für Ihre Aufmerksamkeit. Wir freuen uns auf Ihre Fragen — und auf die nächsten zehn Minuten Diskussion.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